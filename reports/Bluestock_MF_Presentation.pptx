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37160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Bluestock Mutual 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</a:rPr>
              <a:t>Analytics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</a:rPr>
              <a:t>End-to-End MF Analytics |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</a:rPr>
              <a:t>Divya Madiraju | Bluestock Fintech MJ28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India's MF industry manages Rs.67+ lakh crore AUM across 1,900+ schemes — data is fragmented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Retail investors lack tools to compare risk-adjusted performance across fund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No unified platform exists to track NAV trends, SIP growth, and investor demographics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Objective: Build end-to-end analytics covering ETL, EDA, performance metrics, and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Scope: 40 fund schemes, Jan 2022 – Dec 2025, 32,778 investor transactions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Fund Schemes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0292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46,000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NAV Records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0292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32,778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Transactions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0292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57607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AAAAA"/>
                </a:solidFill>
              </a:rPr>
              <a:t>Deliverables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Data Sources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10 CSV datasets from AMFI India covering NAV, AUM, SIP, transactions, holdings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Live NAV API: mfapi.in — fetched for 5 key schemes (HDFC, SBI, ICICI, Axis, Kotak)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SQLite star schema: dim_fund, dim_date, fact_nav, fact_transactions, fact_performance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ETL pipeline: Extract → Clean → Validate → Load → Verify row 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Tools: Python 3.14, Pandas, NumPy, SQLite, SQLAlchemy, Pathlib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ETL Pipeline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560320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Raw CSVs + mfapi.in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828800"/>
            <a:ext cx="2560320" cy="365760"/>
          </a:xfrm>
          <a:prstGeom prst="rect">
            <a:avLst/>
          </a:prstGeom>
          <a:solidFill>
            <a:srgbClr val="00C8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TRANSFORM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Clean, validate, standardise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56032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SQLite star schema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95360" y="1828800"/>
            <a:ext cx="2560320" cy="13716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5360" y="1828800"/>
            <a:ext cx="2560320" cy="3657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87451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</a:rPr>
              <a:t>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2860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EDA + Performance + VaR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Common Mistakes Avoided: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851"/>
                </a:solidFill>
              </a:rPr>
              <a:t>✓ ffill() applied after reindexing NAV to full date range (weekends/holidays handled)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07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851"/>
                </a:solidFill>
              </a:rPr>
              <a:t>✓ CAGR annualised using 252 trading days, not calendar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914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851"/>
                </a:solidFill>
              </a:rPr>
              <a:t>✓ Pathlib.Path used throughout — no hard-coded file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1755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C851"/>
                </a:solidFill>
              </a:rPr>
              <a:t>✓ *.db added to .gitignore — only schema.sql committed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EDA Highlights — Industry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Total industry AUM peaked at Rs.391.76 lakh crore — SBI MF leads with highest AUM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SIP inflows grew from Rs.11,000 Cr (Jan 2022) to record highs by Dec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Industry folios doubled: 13.26 Cr (Jan 2022) to 26.12 Cr (Dec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Equity category dominates net inflows; debt funds see March outflows (tax-related)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Geographic reach: Punjab, Tamil Nadu, Madhya Pradesh lead in transaction volumes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15+ Charts Generated | EDA_Analysis.ipynb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EDA Highlights — Fund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Small-cap funds: highest 1Y returns (21-25%) but highest NAV volatility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Debt funds (Liquid/Gilt): highest Sharpe ratios due to low volatility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NAV correlation matrix: equity funds show 0.85+ pairwise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Financial services dominates portfolio holdings — HHI concentration risk flagged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Direct plans consistently outperform regular plans on 1Y returns (expense ratio effect)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Performance Metrics — Scorecard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Composite Score = 30% CAGR + 25% Sharpe + 20% Alpha + 15% Expense + 10% Drawdown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" cy="36576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822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Rank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6217920" cy="36576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64208"/>
            <a:ext cx="6217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Fund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45920"/>
            <a:ext cx="1097280" cy="36576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664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45920"/>
            <a:ext cx="1097280" cy="36576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3Y CAGR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645920"/>
            <a:ext cx="1097280" cy="36576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0" y="166420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B4D8"/>
                </a:solidFill>
              </a:rPr>
              <a:t>Sharpe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82296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2140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103120"/>
            <a:ext cx="621792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121408"/>
            <a:ext cx="6217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ICICI Pru Midcap Fund - Regular -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1031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214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84.5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1031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21214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30.4%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41280" y="21031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1214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1.18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60320"/>
            <a:ext cx="82296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7860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2560320"/>
            <a:ext cx="62179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578608"/>
            <a:ext cx="6217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Axis Midcap Fund - Regular - Growth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25603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5786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80.8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25603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25786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33.6%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5603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41280" y="25786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1.00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017520"/>
            <a:ext cx="82296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03580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3017520"/>
            <a:ext cx="621792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3035808"/>
            <a:ext cx="6217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HDFC Mid-Cap Opportunities Fund - Regular - 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30175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0358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80.5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30175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30358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31.1%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41280" y="30175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0358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1.09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474720"/>
            <a:ext cx="82296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493008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3474720"/>
            <a:ext cx="62179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3493008"/>
            <a:ext cx="6217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Mirae Asset Large Cap Fund - Regular - Growth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34747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34930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80.0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0" y="34747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61120" y="34930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32.6%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241280" y="3474720"/>
            <a:ext cx="10972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41280" y="3493008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1.45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931920"/>
            <a:ext cx="82296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950207"/>
            <a:ext cx="8229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71600" y="3931920"/>
            <a:ext cx="621792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371600" y="3950207"/>
            <a:ext cx="6217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Kotak Flexicap Fund - Regular - Growth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39319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3950207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78.2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39319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61120" y="3950207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28.4%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41280" y="3931920"/>
            <a:ext cx="1097280" cy="41148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241280" y="3950207"/>
            <a:ext cx="10972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1.31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Performance Metrics — Risk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Historical VaR (95%): Small-cap funds show -2.5% to -3.5% daily 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CVaR (Expected Shortfall): Worst 5% days average -3.8% for high-risk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Alpha: Top equity funds generate 15-29% annualised excess return vs Nifty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Beta: Equity funds 0.85-1.15 (market-like); debt funds near 0 (uncorrelated)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Maximum Drawdown: Small-cap funds saw -18% to -21% peak-to-trough drawdowns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Rolling Sharpe: Dipped below 0 during 2024 corrections, recovered by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Interactive Dashboard — Page 1 &amp; 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1_Indu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4114800"/>
          </a:xfrm>
          <a:prstGeom prst="rect">
            <a:avLst/>
          </a:prstGeom>
        </p:spPr>
      </p:pic>
      <p:pic>
        <p:nvPicPr>
          <p:cNvPr id="5" name="Picture 4" descr="Page2_Perform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Interactive Dashboard — Page 3 &amp; 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3_Inve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4114800"/>
          </a:xfrm>
          <a:prstGeom prst="rect">
            <a:avLst/>
          </a:prstGeom>
        </p:spPr>
      </p:pic>
      <p:pic>
        <p:nvPicPr>
          <p:cNvPr id="5" name="Picture 4" descr="Page4_S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B4D8"/>
                </a:solidFill>
              </a:rPr>
              <a:t>Key Findings &amp;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SBI MF leads AUM — distribution through bank branches is the key competitive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6420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Small-cap funds deliver best long-term CAGR but require 5+ year investment 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969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SIP discipline is strong — 80%+ investors maintain monthly cadence (gap &lt; 35 days)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1518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Direct plans outperform regular plans consistently — cost matters in mutual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9067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Equity fund correlation &gt;0.85 — true diversification requires multi-asset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• 2024 cohort investors contribute highest avg SIP amounts — newer investors are more informed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2286000"/>
          </a:xfrm>
          <a:prstGeom prst="rect">
            <a:avLst/>
          </a:prstGeom>
          <a:solidFill>
            <a:srgbClr val="0A2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4D8"/>
                </a:solidFill>
              </a:rPr>
              <a:t>Bluestock Mutual Fund Analytics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</a:rPr>
              <a:t>GitHub: github.com/Divya-Madiraju/bluestock_mf_capstone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Divya Madiraju | divyamadiraju2006 |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